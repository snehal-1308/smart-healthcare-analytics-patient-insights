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4"/>
  </p:sldMasterIdLst>
  <p:notesMasterIdLst>
    <p:notesMasterId r:id="rId16"/>
  </p:notesMasterIdLst>
  <p:sldIdLst>
    <p:sldId id="1300" r:id="rId5"/>
    <p:sldId id="257" r:id="rId6"/>
    <p:sldId id="343" r:id="rId7"/>
    <p:sldId id="344" r:id="rId8"/>
    <p:sldId id="345" r:id="rId9"/>
    <p:sldId id="346" r:id="rId10"/>
    <p:sldId id="347" r:id="rId11"/>
    <p:sldId id="348" r:id="rId12"/>
    <p:sldId id="349" r:id="rId13"/>
    <p:sldId id="350" r:id="rId14"/>
    <p:sldId id="342" r:id="rId1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40" userDrawn="1">
          <p15:clr>
            <a:srgbClr val="A4A3A4"/>
          </p15:clr>
        </p15:guide>
        <p15:guide id="2" pos="144" userDrawn="1">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47"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1910"/>
    <a:srgbClr val="223366"/>
    <a:srgbClr val="0000FF"/>
    <a:srgbClr val="0000A8"/>
    <a:srgbClr val="FFD5D5"/>
    <a:srgbClr val="DDE8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CB639B-4CEF-9DB7-2344-EECACEBA9667}" v="7" dt="2024-01-24T11:25:17.418"/>
    <p1510:client id="{7851F380-6BD9-45EE-6CAC-5F7652B66164}" v="36" dt="2024-01-23T13:23:07.432"/>
    <p1510:client id="{B2F08324-7695-7A4F-DE98-A8B4075044AF}" v="36" dt="2024-01-23T12:58:20.093"/>
    <p1510:client id="{DD43528C-0D81-61C0-A9E5-D78813F6FE8C}" v="8" dt="2024-01-24T11:02:31.2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8" d="100"/>
          <a:sy n="128" d="100"/>
        </p:scale>
        <p:origin x="154" y="86"/>
      </p:cViewPr>
      <p:guideLst>
        <p:guide orient="horz" pos="540"/>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51" Type="http://schemas.openxmlformats.org/officeDocument/2006/relationships/tableStyles" Target="tableStyles.xml"/><Relationship Id="rId3" Type="http://schemas.openxmlformats.org/officeDocument/2006/relationships/customXml" Target="../customXml/item3.xml"/><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2" Type="http://schemas.openxmlformats.org/officeDocument/2006/relationships/customXml" Target="../customXml/item2.xml"/><Relationship Id="rId16"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49" Type="http://schemas.openxmlformats.org/officeDocument/2006/relationships/viewProps" Target="viewProps.xml"/><Relationship Id="rId10" Type="http://schemas.openxmlformats.org/officeDocument/2006/relationships/slide" Target="slides/slide6.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4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pPr marL="158750" indent="0">
              <a:buNone/>
            </a:pPr>
            <a:endParaRPr lang="en-US" b="1" dirty="0"/>
          </a:p>
        </p:txBody>
      </p:sp>
      <p:sp>
        <p:nvSpPr>
          <p:cNvPr id="4" name="Slide Number Placeholder 3"/>
          <p:cNvSpPr>
            <a:spLocks noGrp="1"/>
          </p:cNvSpPr>
          <p:nvPr>
            <p:ph type="sldNum"/>
          </p:nvPr>
        </p:nvSpPr>
        <p:spPr/>
        <p:txBody>
          <a:bodyPr/>
          <a:lstStyle/>
          <a:p>
            <a:pPr algn="r"/>
            <a:fld id="{023E65BA-FB28-47C4-A217-44F00343302E}" type="slidenum">
              <a:rPr lang="en-US" sz="1400" b="0" strike="noStrike" spc="-1">
                <a:latin typeface="Times New Roman"/>
              </a:rPr>
              <a:t>1</a:t>
            </a:fld>
            <a:endParaRPr lang="en-US" sz="1400" b="0" strike="noStrike" spc="-1">
              <a:latin typeface="Times New Roman"/>
            </a:endParaRPr>
          </a:p>
        </p:txBody>
      </p:sp>
    </p:spTree>
    <p:extLst>
      <p:ext uri="{BB962C8B-B14F-4D97-AF65-F5344CB8AC3E}">
        <p14:creationId xmlns:p14="http://schemas.microsoft.com/office/powerpoint/2010/main" val="3619783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494419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PlaceHolder 1"/>
          <p:cNvSpPr>
            <a:spLocks noGrp="1" noRot="1" noChangeAspect="1"/>
          </p:cNvSpPr>
          <p:nvPr>
            <p:ph type="sldImg"/>
          </p:nvPr>
        </p:nvSpPr>
        <p:spPr>
          <a:xfrm>
            <a:off x="685800" y="1143000"/>
            <a:ext cx="5486400" cy="3086100"/>
          </a:xfrm>
          <a:prstGeom prst="rect">
            <a:avLst/>
          </a:prstGeom>
        </p:spPr>
      </p:sp>
      <p:sp>
        <p:nvSpPr>
          <p:cNvPr id="380" name="PlaceHolder 2"/>
          <p:cNvSpPr>
            <a:spLocks noGrp="1"/>
          </p:cNvSpPr>
          <p:nvPr>
            <p:ph type="body"/>
          </p:nvPr>
        </p:nvSpPr>
        <p:spPr>
          <a:xfrm>
            <a:off x="685800" y="4400640"/>
            <a:ext cx="5486040" cy="3600000"/>
          </a:xfrm>
          <a:prstGeom prst="rect">
            <a:avLst/>
          </a:prstGeom>
        </p:spPr>
        <p:txBody>
          <a:bodyPr>
            <a:noAutofit/>
          </a:bodyPr>
          <a:lstStyle/>
          <a:p>
            <a:pPr>
              <a:lnSpc>
                <a:spcPct val="100000"/>
              </a:lnSpc>
              <a:tabLst>
                <a:tab pos="0" algn="l"/>
              </a:tabLst>
            </a:pPr>
            <a:endParaRPr lang="en-US" sz="2000" b="0" strike="noStrike" spc="-1">
              <a:latin typeface="Arial"/>
            </a:endParaRPr>
          </a:p>
        </p:txBody>
      </p:sp>
      <p:sp>
        <p:nvSpPr>
          <p:cNvPr id="381" name="TextShape 3"/>
          <p:cNvSpPr txBox="1"/>
          <p:nvPr/>
        </p:nvSpPr>
        <p:spPr>
          <a:xfrm>
            <a:off x="3884760" y="8685360"/>
            <a:ext cx="2971440" cy="458280"/>
          </a:xfrm>
          <a:prstGeom prst="rect">
            <a:avLst/>
          </a:prstGeom>
          <a:noFill/>
          <a:ln w="0">
            <a:noFill/>
          </a:ln>
        </p:spPr>
        <p:txBody>
          <a:bodyPr anchor="b">
            <a:noAutofit/>
          </a:bodyPr>
          <a:lstStyle/>
          <a:p>
            <a:pPr algn="r">
              <a:lnSpc>
                <a:spcPct val="100000"/>
              </a:lnSpc>
            </a:pPr>
            <a:fld id="{E9D2A155-03D1-406C-89CB-ED7F9F0CCA44}" type="slidenum">
              <a:rPr lang="en-IN" sz="1200" b="0" strike="noStrike" spc="-1">
                <a:latin typeface="Times New Roman"/>
              </a:rPr>
              <a:t>11</a:t>
            </a:fld>
            <a:endParaRPr lang="en-US" sz="1200" b="0" strike="noStrike" spc="-1">
              <a:latin typeface="Times New Roman"/>
            </a:endParaRPr>
          </a:p>
        </p:txBody>
      </p:sp>
    </p:spTree>
    <p:extLst>
      <p:ext uri="{BB962C8B-B14F-4D97-AF65-F5344CB8AC3E}">
        <p14:creationId xmlns:p14="http://schemas.microsoft.com/office/powerpoint/2010/main" val="13531402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userDrawn="1">
  <p:cSld name="TITLE_AND_BODY">
    <p:spTree>
      <p:nvGrpSpPr>
        <p:cNvPr id="1" name="Shape 13"/>
        <p:cNvGrpSpPr/>
        <p:nvPr/>
      </p:nvGrpSpPr>
      <p:grpSpPr>
        <a:xfrm>
          <a:off x="0" y="0"/>
          <a:ext cx="0" cy="0"/>
          <a:chOff x="0" y="0"/>
          <a:chExt cx="0" cy="0"/>
        </a:xfrm>
      </p:grpSpPr>
      <p:sp>
        <p:nvSpPr>
          <p:cNvPr id="16" name="Google Shape;16;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2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189" lvl="0" indent="-317492" algn="l">
              <a:lnSpc>
                <a:spcPct val="115000"/>
              </a:lnSpc>
              <a:spcBef>
                <a:spcPts val="0"/>
              </a:spcBef>
              <a:spcAft>
                <a:spcPts val="0"/>
              </a:spcAft>
              <a:buSzPts val="1400"/>
              <a:buChar char="●"/>
              <a:defRPr sz="1400"/>
            </a:lvl1pPr>
            <a:lvl2pPr marL="914378" lvl="1" indent="-304793" algn="l">
              <a:lnSpc>
                <a:spcPct val="115000"/>
              </a:lnSpc>
              <a:spcBef>
                <a:spcPts val="1600"/>
              </a:spcBef>
              <a:spcAft>
                <a:spcPts val="0"/>
              </a:spcAft>
              <a:buSzPts val="1200"/>
              <a:buChar char="○"/>
              <a:defRPr sz="1200"/>
            </a:lvl2pPr>
            <a:lvl3pPr marL="1371566" lvl="2" indent="-304793" algn="l">
              <a:lnSpc>
                <a:spcPct val="115000"/>
              </a:lnSpc>
              <a:spcBef>
                <a:spcPts val="1600"/>
              </a:spcBef>
              <a:spcAft>
                <a:spcPts val="0"/>
              </a:spcAft>
              <a:buSzPts val="1200"/>
              <a:buChar char="■"/>
              <a:defRPr sz="1200"/>
            </a:lvl3pPr>
            <a:lvl4pPr marL="1828754" lvl="3" indent="-304793" algn="l">
              <a:lnSpc>
                <a:spcPct val="115000"/>
              </a:lnSpc>
              <a:spcBef>
                <a:spcPts val="1600"/>
              </a:spcBef>
              <a:spcAft>
                <a:spcPts val="0"/>
              </a:spcAft>
              <a:buSzPts val="1200"/>
              <a:buChar char="●"/>
              <a:defRPr sz="1200"/>
            </a:lvl4pPr>
            <a:lvl5pPr marL="2285943" lvl="4" indent="-304793" algn="l">
              <a:lnSpc>
                <a:spcPct val="115000"/>
              </a:lnSpc>
              <a:spcBef>
                <a:spcPts val="1600"/>
              </a:spcBef>
              <a:spcAft>
                <a:spcPts val="0"/>
              </a:spcAft>
              <a:buSzPts val="1200"/>
              <a:buChar char="○"/>
              <a:defRPr sz="1200"/>
            </a:lvl5pPr>
            <a:lvl6pPr marL="2743132" lvl="5" indent="-304793" algn="l">
              <a:lnSpc>
                <a:spcPct val="115000"/>
              </a:lnSpc>
              <a:spcBef>
                <a:spcPts val="1600"/>
              </a:spcBef>
              <a:spcAft>
                <a:spcPts val="0"/>
              </a:spcAft>
              <a:buSzPts val="1200"/>
              <a:buChar char="■"/>
              <a:defRPr sz="1200"/>
            </a:lvl6pPr>
            <a:lvl7pPr marL="3200320" lvl="6" indent="-304793" algn="l">
              <a:lnSpc>
                <a:spcPct val="115000"/>
              </a:lnSpc>
              <a:spcBef>
                <a:spcPts val="1600"/>
              </a:spcBef>
              <a:spcAft>
                <a:spcPts val="0"/>
              </a:spcAft>
              <a:buSzPts val="1200"/>
              <a:buChar char="●"/>
              <a:defRPr sz="1200"/>
            </a:lvl7pPr>
            <a:lvl8pPr marL="3657509" lvl="7" indent="-304793" algn="l">
              <a:lnSpc>
                <a:spcPct val="115000"/>
              </a:lnSpc>
              <a:spcBef>
                <a:spcPts val="1600"/>
              </a:spcBef>
              <a:spcAft>
                <a:spcPts val="0"/>
              </a:spcAft>
              <a:buSzPts val="1200"/>
              <a:buChar char="○"/>
              <a:defRPr sz="1200"/>
            </a:lvl8pPr>
            <a:lvl9pPr marL="4114697" lvl="8" indent="-304793" algn="l">
              <a:lnSpc>
                <a:spcPct val="115000"/>
              </a:lnSpc>
              <a:spcBef>
                <a:spcPts val="1600"/>
              </a:spcBef>
              <a:spcAft>
                <a:spcPts val="1600"/>
              </a:spcAft>
              <a:buSzPts val="1200"/>
              <a:buChar char="■"/>
              <a:defRPr sz="1200"/>
            </a:lvl9pPr>
          </a:lstStyle>
          <a:p>
            <a:endParaRPr/>
          </a:p>
        </p:txBody>
      </p:sp>
      <p:sp>
        <p:nvSpPr>
          <p:cNvPr id="23" name="Google Shape;23;p2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189" lvl="0" indent="-317492" algn="l">
              <a:lnSpc>
                <a:spcPct val="115000"/>
              </a:lnSpc>
              <a:spcBef>
                <a:spcPts val="0"/>
              </a:spcBef>
              <a:spcAft>
                <a:spcPts val="0"/>
              </a:spcAft>
              <a:buSzPts val="1400"/>
              <a:buChar char="●"/>
              <a:defRPr sz="1400"/>
            </a:lvl1pPr>
            <a:lvl2pPr marL="914378" lvl="1" indent="-304793" algn="l">
              <a:lnSpc>
                <a:spcPct val="115000"/>
              </a:lnSpc>
              <a:spcBef>
                <a:spcPts val="1600"/>
              </a:spcBef>
              <a:spcAft>
                <a:spcPts val="0"/>
              </a:spcAft>
              <a:buSzPts val="1200"/>
              <a:buChar char="○"/>
              <a:defRPr sz="1200"/>
            </a:lvl2pPr>
            <a:lvl3pPr marL="1371566" lvl="2" indent="-304793" algn="l">
              <a:lnSpc>
                <a:spcPct val="115000"/>
              </a:lnSpc>
              <a:spcBef>
                <a:spcPts val="1600"/>
              </a:spcBef>
              <a:spcAft>
                <a:spcPts val="0"/>
              </a:spcAft>
              <a:buSzPts val="1200"/>
              <a:buChar char="■"/>
              <a:defRPr sz="1200"/>
            </a:lvl3pPr>
            <a:lvl4pPr marL="1828754" lvl="3" indent="-304793" algn="l">
              <a:lnSpc>
                <a:spcPct val="115000"/>
              </a:lnSpc>
              <a:spcBef>
                <a:spcPts val="1600"/>
              </a:spcBef>
              <a:spcAft>
                <a:spcPts val="0"/>
              </a:spcAft>
              <a:buSzPts val="1200"/>
              <a:buChar char="●"/>
              <a:defRPr sz="1200"/>
            </a:lvl4pPr>
            <a:lvl5pPr marL="2285943" lvl="4" indent="-304793" algn="l">
              <a:lnSpc>
                <a:spcPct val="115000"/>
              </a:lnSpc>
              <a:spcBef>
                <a:spcPts val="1600"/>
              </a:spcBef>
              <a:spcAft>
                <a:spcPts val="0"/>
              </a:spcAft>
              <a:buSzPts val="1200"/>
              <a:buChar char="○"/>
              <a:defRPr sz="1200"/>
            </a:lvl5pPr>
            <a:lvl6pPr marL="2743132" lvl="5" indent="-304793" algn="l">
              <a:lnSpc>
                <a:spcPct val="115000"/>
              </a:lnSpc>
              <a:spcBef>
                <a:spcPts val="1600"/>
              </a:spcBef>
              <a:spcAft>
                <a:spcPts val="0"/>
              </a:spcAft>
              <a:buSzPts val="1200"/>
              <a:buChar char="■"/>
              <a:defRPr sz="1200"/>
            </a:lvl6pPr>
            <a:lvl7pPr marL="3200320" lvl="6" indent="-304793" algn="l">
              <a:lnSpc>
                <a:spcPct val="115000"/>
              </a:lnSpc>
              <a:spcBef>
                <a:spcPts val="1600"/>
              </a:spcBef>
              <a:spcAft>
                <a:spcPts val="0"/>
              </a:spcAft>
              <a:buSzPts val="1200"/>
              <a:buChar char="●"/>
              <a:defRPr sz="1200"/>
            </a:lvl7pPr>
            <a:lvl8pPr marL="3657509" lvl="7" indent="-304793" algn="l">
              <a:lnSpc>
                <a:spcPct val="115000"/>
              </a:lnSpc>
              <a:spcBef>
                <a:spcPts val="1600"/>
              </a:spcBef>
              <a:spcAft>
                <a:spcPts val="0"/>
              </a:spcAft>
              <a:buSzPts val="1200"/>
              <a:buChar char="○"/>
              <a:defRPr sz="1200"/>
            </a:lvl8pPr>
            <a:lvl9pPr marL="4114697" lvl="8" indent="-304793" algn="l">
              <a:lnSpc>
                <a:spcPct val="115000"/>
              </a:lnSpc>
              <a:spcBef>
                <a:spcPts val="1600"/>
              </a:spcBef>
              <a:spcAft>
                <a:spcPts val="1600"/>
              </a:spcAft>
              <a:buSzPts val="1200"/>
              <a:buChar char="■"/>
              <a:defRPr sz="1200"/>
            </a:lvl9pPr>
          </a:lstStyle>
          <a:p>
            <a:endParaRPr/>
          </a:p>
        </p:txBody>
      </p:sp>
      <p:sp>
        <p:nvSpPr>
          <p:cNvPr id="24" name="Google Shape;24;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3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3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189" lvl="0" indent="-304793" algn="l">
              <a:lnSpc>
                <a:spcPct val="115000"/>
              </a:lnSpc>
              <a:spcBef>
                <a:spcPts val="0"/>
              </a:spcBef>
              <a:spcAft>
                <a:spcPts val="0"/>
              </a:spcAft>
              <a:buSzPts val="1200"/>
              <a:buChar char="●"/>
              <a:defRPr sz="1200"/>
            </a:lvl1pPr>
            <a:lvl2pPr marL="914378" lvl="1" indent="-304793" algn="l">
              <a:lnSpc>
                <a:spcPct val="115000"/>
              </a:lnSpc>
              <a:spcBef>
                <a:spcPts val="1600"/>
              </a:spcBef>
              <a:spcAft>
                <a:spcPts val="0"/>
              </a:spcAft>
              <a:buSzPts val="1200"/>
              <a:buChar char="○"/>
              <a:defRPr sz="1200"/>
            </a:lvl2pPr>
            <a:lvl3pPr marL="1371566" lvl="2" indent="-304793" algn="l">
              <a:lnSpc>
                <a:spcPct val="115000"/>
              </a:lnSpc>
              <a:spcBef>
                <a:spcPts val="1600"/>
              </a:spcBef>
              <a:spcAft>
                <a:spcPts val="0"/>
              </a:spcAft>
              <a:buSzPts val="1200"/>
              <a:buChar char="■"/>
              <a:defRPr sz="1200"/>
            </a:lvl3pPr>
            <a:lvl4pPr marL="1828754" lvl="3" indent="-304793" algn="l">
              <a:lnSpc>
                <a:spcPct val="115000"/>
              </a:lnSpc>
              <a:spcBef>
                <a:spcPts val="1600"/>
              </a:spcBef>
              <a:spcAft>
                <a:spcPts val="0"/>
              </a:spcAft>
              <a:buSzPts val="1200"/>
              <a:buChar char="●"/>
              <a:defRPr sz="1200"/>
            </a:lvl4pPr>
            <a:lvl5pPr marL="2285943" lvl="4" indent="-304793" algn="l">
              <a:lnSpc>
                <a:spcPct val="115000"/>
              </a:lnSpc>
              <a:spcBef>
                <a:spcPts val="1600"/>
              </a:spcBef>
              <a:spcAft>
                <a:spcPts val="0"/>
              </a:spcAft>
              <a:buSzPts val="1200"/>
              <a:buChar char="○"/>
              <a:defRPr sz="1200"/>
            </a:lvl5pPr>
            <a:lvl6pPr marL="2743132" lvl="5" indent="-304793" algn="l">
              <a:lnSpc>
                <a:spcPct val="115000"/>
              </a:lnSpc>
              <a:spcBef>
                <a:spcPts val="1600"/>
              </a:spcBef>
              <a:spcAft>
                <a:spcPts val="0"/>
              </a:spcAft>
              <a:buSzPts val="1200"/>
              <a:buChar char="■"/>
              <a:defRPr sz="1200"/>
            </a:lvl6pPr>
            <a:lvl7pPr marL="3200320" lvl="6" indent="-304793" algn="l">
              <a:lnSpc>
                <a:spcPct val="115000"/>
              </a:lnSpc>
              <a:spcBef>
                <a:spcPts val="1600"/>
              </a:spcBef>
              <a:spcAft>
                <a:spcPts val="0"/>
              </a:spcAft>
              <a:buSzPts val="1200"/>
              <a:buChar char="●"/>
              <a:defRPr sz="1200"/>
            </a:lvl7pPr>
            <a:lvl8pPr marL="3657509" lvl="7" indent="-304793" algn="l">
              <a:lnSpc>
                <a:spcPct val="115000"/>
              </a:lnSpc>
              <a:spcBef>
                <a:spcPts val="1600"/>
              </a:spcBef>
              <a:spcAft>
                <a:spcPts val="0"/>
              </a:spcAft>
              <a:buSzPts val="1200"/>
              <a:buChar char="○"/>
              <a:defRPr sz="1200"/>
            </a:lvl8pPr>
            <a:lvl9pPr marL="4114697" lvl="8" indent="-304793" algn="l">
              <a:lnSpc>
                <a:spcPct val="115000"/>
              </a:lnSpc>
              <a:spcBef>
                <a:spcPts val="1600"/>
              </a:spcBef>
              <a:spcAft>
                <a:spcPts val="1600"/>
              </a:spcAft>
              <a:buSzPts val="1200"/>
              <a:buChar char="■"/>
              <a:defRPr sz="1200"/>
            </a:lvl9pPr>
          </a:lstStyle>
          <a:p>
            <a:endParaRPr/>
          </a:p>
        </p:txBody>
      </p:sp>
      <p:sp>
        <p:nvSpPr>
          <p:cNvPr id="31" name="Google Shape;31;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2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3" name="Google Shape;23;p2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4" name="Google Shape;24;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3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3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3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32"/>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32"/>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32"/>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32"/>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189" lvl="0" indent="-342892" algn="l">
              <a:lnSpc>
                <a:spcPct val="115000"/>
              </a:lnSpc>
              <a:spcBef>
                <a:spcPts val="0"/>
              </a:spcBef>
              <a:spcAft>
                <a:spcPts val="0"/>
              </a:spcAft>
              <a:buSzPts val="1800"/>
              <a:buChar char="●"/>
              <a:defRPr/>
            </a:lvl1pPr>
            <a:lvl2pPr marL="914378" lvl="1" indent="-317492" algn="l">
              <a:lnSpc>
                <a:spcPct val="115000"/>
              </a:lnSpc>
              <a:spcBef>
                <a:spcPts val="1600"/>
              </a:spcBef>
              <a:spcAft>
                <a:spcPts val="0"/>
              </a:spcAft>
              <a:buSzPts val="1400"/>
              <a:buChar char="○"/>
              <a:defRPr/>
            </a:lvl2pPr>
            <a:lvl3pPr marL="1371566" lvl="2" indent="-317492" algn="l">
              <a:lnSpc>
                <a:spcPct val="115000"/>
              </a:lnSpc>
              <a:spcBef>
                <a:spcPts val="1600"/>
              </a:spcBef>
              <a:spcAft>
                <a:spcPts val="0"/>
              </a:spcAft>
              <a:buSzPts val="1400"/>
              <a:buChar char="■"/>
              <a:defRPr/>
            </a:lvl3pPr>
            <a:lvl4pPr marL="1828754" lvl="3" indent="-317492" algn="l">
              <a:lnSpc>
                <a:spcPct val="115000"/>
              </a:lnSpc>
              <a:spcBef>
                <a:spcPts val="1600"/>
              </a:spcBef>
              <a:spcAft>
                <a:spcPts val="0"/>
              </a:spcAft>
              <a:buSzPts val="1400"/>
              <a:buChar char="●"/>
              <a:defRPr/>
            </a:lvl4pPr>
            <a:lvl5pPr marL="2285943" lvl="4" indent="-317492" algn="l">
              <a:lnSpc>
                <a:spcPct val="115000"/>
              </a:lnSpc>
              <a:spcBef>
                <a:spcPts val="1600"/>
              </a:spcBef>
              <a:spcAft>
                <a:spcPts val="0"/>
              </a:spcAft>
              <a:buSzPts val="1400"/>
              <a:buChar char="○"/>
              <a:defRPr/>
            </a:lvl5pPr>
            <a:lvl6pPr marL="2743132" lvl="5" indent="-317492" algn="l">
              <a:lnSpc>
                <a:spcPct val="115000"/>
              </a:lnSpc>
              <a:spcBef>
                <a:spcPts val="1600"/>
              </a:spcBef>
              <a:spcAft>
                <a:spcPts val="0"/>
              </a:spcAft>
              <a:buSzPts val="1400"/>
              <a:buChar char="■"/>
              <a:defRPr/>
            </a:lvl6pPr>
            <a:lvl7pPr marL="3200320" lvl="6" indent="-317492" algn="l">
              <a:lnSpc>
                <a:spcPct val="115000"/>
              </a:lnSpc>
              <a:spcBef>
                <a:spcPts val="1600"/>
              </a:spcBef>
              <a:spcAft>
                <a:spcPts val="0"/>
              </a:spcAft>
              <a:buSzPts val="1400"/>
              <a:buChar char="●"/>
              <a:defRPr/>
            </a:lvl7pPr>
            <a:lvl8pPr marL="3657509" lvl="7" indent="-317492" algn="l">
              <a:lnSpc>
                <a:spcPct val="115000"/>
              </a:lnSpc>
              <a:spcBef>
                <a:spcPts val="1600"/>
              </a:spcBef>
              <a:spcAft>
                <a:spcPts val="0"/>
              </a:spcAft>
              <a:buSzPts val="1400"/>
              <a:buChar char="○"/>
              <a:defRPr/>
            </a:lvl8pPr>
            <a:lvl9pPr marL="4114697" lvl="8" indent="-317492" algn="l">
              <a:lnSpc>
                <a:spcPct val="115000"/>
              </a:lnSpc>
              <a:spcBef>
                <a:spcPts val="1600"/>
              </a:spcBef>
              <a:spcAft>
                <a:spcPts val="1600"/>
              </a:spcAft>
              <a:buSzPts val="1400"/>
              <a:buChar char="■"/>
              <a:defRPr/>
            </a:lvl9pPr>
          </a:lstStyle>
          <a:p>
            <a:endParaRPr/>
          </a:p>
        </p:txBody>
      </p:sp>
      <p:sp>
        <p:nvSpPr>
          <p:cNvPr id="40" name="Google Shape;40;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33"/>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189" lvl="0" indent="-228594" algn="l">
              <a:lnSpc>
                <a:spcPct val="100000"/>
              </a:lnSpc>
              <a:spcBef>
                <a:spcPts val="0"/>
              </a:spcBef>
              <a:spcAft>
                <a:spcPts val="0"/>
              </a:spcAft>
              <a:buSzPts val="1800"/>
              <a:buNone/>
              <a:defRPr/>
            </a:lvl1pPr>
          </a:lstStyle>
          <a:p>
            <a:endParaRPr/>
          </a:p>
        </p:txBody>
      </p:sp>
      <p:sp>
        <p:nvSpPr>
          <p:cNvPr id="43" name="Google Shape;43;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1_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628560" y="273780"/>
            <a:ext cx="7886430" cy="993870"/>
          </a:xfrm>
          <a:prstGeom prst="rect">
            <a:avLst/>
          </a:prstGeom>
        </p:spPr>
        <p:txBody>
          <a:bodyPr lIns="0" tIns="0" rIns="0" bIns="0" anchor="ctr">
            <a:noAutofit/>
          </a:bodyPr>
          <a:lstStyle/>
          <a:p>
            <a:endParaRPr lang="en-US" sz="1350" b="0" strike="noStrike" spc="-1">
              <a:solidFill>
                <a:srgbClr val="000000"/>
              </a:solidFill>
              <a:latin typeface="Calibri"/>
            </a:endParaRPr>
          </a:p>
        </p:txBody>
      </p:sp>
      <p:sp>
        <p:nvSpPr>
          <p:cNvPr id="9" name="PlaceHolder 2"/>
          <p:cNvSpPr>
            <a:spLocks noGrp="1"/>
          </p:cNvSpPr>
          <p:nvPr>
            <p:ph type="subTitle"/>
          </p:nvPr>
        </p:nvSpPr>
        <p:spPr>
          <a:xfrm>
            <a:off x="457110" y="1203390"/>
            <a:ext cx="8229330" cy="2982960"/>
          </a:xfrm>
          <a:prstGeom prst="rect">
            <a:avLst/>
          </a:prstGeom>
        </p:spPr>
        <p:txBody>
          <a:bodyPr lIns="0" tIns="0" rIns="0" bIns="0" anchor="ctr">
            <a:noAutofit/>
          </a:bodyPr>
          <a:lstStyle/>
          <a:p>
            <a:pPr algn="ctr"/>
            <a:endParaRPr lang="en-US" sz="2400" b="0" strike="noStrike" spc="-1">
              <a:latin typeface="Arial"/>
            </a:endParaRPr>
          </a:p>
        </p:txBody>
      </p:sp>
    </p:spTree>
    <p:extLst>
      <p:ext uri="{BB962C8B-B14F-4D97-AF65-F5344CB8AC3E}">
        <p14:creationId xmlns:p14="http://schemas.microsoft.com/office/powerpoint/2010/main" val="53641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517835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5" name="Google Shape;110;p4" descr="A close up of a sign&#10;&#10;Description automatically generated">
            <a:extLst>
              <a:ext uri="{FF2B5EF4-FFF2-40B4-BE49-F238E27FC236}">
                <a16:creationId xmlns:a16="http://schemas.microsoft.com/office/drawing/2014/main" id="{4D797CE1-B3BC-05B3-7EFB-77E24CA99EC4}"/>
              </a:ext>
            </a:extLst>
          </p:cNvPr>
          <p:cNvPicPr preferRelativeResize="0"/>
          <p:nvPr userDrawn="1"/>
        </p:nvPicPr>
        <p:blipFill rotWithShape="1">
          <a:blip r:embed="rId15">
            <a:alphaModFix/>
          </a:blip>
          <a:srcRect/>
          <a:stretch/>
        </p:blipFill>
        <p:spPr>
          <a:xfrm>
            <a:off x="6853461" y="50164"/>
            <a:ext cx="1226897" cy="410144"/>
          </a:xfrm>
          <a:prstGeom prst="rect">
            <a:avLst/>
          </a:prstGeom>
          <a:noFill/>
          <a:ln>
            <a:noFill/>
          </a:ln>
        </p:spPr>
      </p:pic>
      <p:pic>
        <p:nvPicPr>
          <p:cNvPr id="7" name="Picture 6">
            <a:extLst>
              <a:ext uri="{FF2B5EF4-FFF2-40B4-BE49-F238E27FC236}">
                <a16:creationId xmlns:a16="http://schemas.microsoft.com/office/drawing/2014/main" id="{4FE9B430-F1A6-D15F-5325-A6ECC80544A3}"/>
              </a:ext>
            </a:extLst>
          </p:cNvPr>
          <p:cNvPicPr>
            <a:picLocks noChangeAspect="1"/>
          </p:cNvPicPr>
          <p:nvPr userDrawn="1"/>
        </p:nvPicPr>
        <p:blipFill>
          <a:blip r:embed="rId16"/>
          <a:stretch>
            <a:fillRect/>
          </a:stretch>
        </p:blipFill>
        <p:spPr>
          <a:xfrm>
            <a:off x="8411180" y="54435"/>
            <a:ext cx="606402" cy="401602"/>
          </a:xfrm>
          <a:prstGeom prst="rect">
            <a:avLst/>
          </a:prstGeom>
        </p:spPr>
      </p:pic>
      <p:cxnSp>
        <p:nvCxnSpPr>
          <p:cNvPr id="11" name="Straight Connector 10">
            <a:extLst>
              <a:ext uri="{FF2B5EF4-FFF2-40B4-BE49-F238E27FC236}">
                <a16:creationId xmlns:a16="http://schemas.microsoft.com/office/drawing/2014/main" id="{3A16F5E0-5700-9B75-900A-DACA5FE2B975}"/>
              </a:ext>
            </a:extLst>
          </p:cNvPr>
          <p:cNvCxnSpPr/>
          <p:nvPr userDrawn="1"/>
        </p:nvCxnSpPr>
        <p:spPr>
          <a:xfrm>
            <a:off x="8235882" y="44451"/>
            <a:ext cx="0" cy="411586"/>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Tree>
  </p:cSld>
  <p:clrMap bg1="lt1" tx1="dk1" bg2="dk2" tx2="lt2" accent1="accent1" accent2="accent2" accent3="accent3" accent4="accent4" accent5="accent5" accent6="accent6" hlink="hlink" folHlink="folHlink"/>
  <p:sldLayoutIdLst>
    <p:sldLayoutId id="2147483666" r:id="rId1"/>
    <p:sldLayoutId id="2147483667" r:id="rId2"/>
    <p:sldLayoutId id="2147483652" r:id="rId3"/>
    <p:sldLayoutId id="2147483653" r:id="rId4"/>
    <p:sldLayoutId id="2147483654" r:id="rId5"/>
    <p:sldLayoutId id="2147483668" r:id="rId6"/>
    <p:sldLayoutId id="2147483669" r:id="rId7"/>
    <p:sldLayoutId id="2147483670" r:id="rId8"/>
    <p:sldLayoutId id="2147483656" r:id="rId9"/>
    <p:sldLayoutId id="2147483657" r:id="rId10"/>
    <p:sldLayoutId id="2147483659" r:id="rId11"/>
    <p:sldLayoutId id="2147483674" r:id="rId12"/>
    <p:sldLayoutId id="2147483675"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xml"/><Relationship Id="rId1" Type="http://schemas.openxmlformats.org/officeDocument/2006/relationships/tags" Target="../tags/tag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erson sitting at a desk with a computer&#10;&#10;Description automatically generated">
            <a:extLst>
              <a:ext uri="{FF2B5EF4-FFF2-40B4-BE49-F238E27FC236}">
                <a16:creationId xmlns:a16="http://schemas.microsoft.com/office/drawing/2014/main" id="{02540B31-8123-24C6-B0F3-4444B51E9487}"/>
              </a:ext>
            </a:extLst>
          </p:cNvPr>
          <p:cNvPicPr>
            <a:picLocks noChangeAspect="1"/>
          </p:cNvPicPr>
          <p:nvPr/>
        </p:nvPicPr>
        <p:blipFill>
          <a:blip r:embed="rId4"/>
          <a:stretch>
            <a:fillRect/>
          </a:stretch>
        </p:blipFill>
        <p:spPr>
          <a:xfrm>
            <a:off x="0" y="11952"/>
            <a:ext cx="9144000" cy="5143500"/>
          </a:xfrm>
          <a:prstGeom prst="rect">
            <a:avLst/>
          </a:prstGeom>
        </p:spPr>
      </p:pic>
      <p:sp>
        <p:nvSpPr>
          <p:cNvPr id="5" name="Rectangle: Rounded Corners 4">
            <a:extLst>
              <a:ext uri="{FF2B5EF4-FFF2-40B4-BE49-F238E27FC236}">
                <a16:creationId xmlns:a16="http://schemas.microsoft.com/office/drawing/2014/main" id="{BB9AA95F-56F4-3F03-5804-8F7C6AFCE0BB}"/>
              </a:ext>
            </a:extLst>
          </p:cNvPr>
          <p:cNvSpPr/>
          <p:nvPr/>
        </p:nvSpPr>
        <p:spPr>
          <a:xfrm>
            <a:off x="6528408" y="489180"/>
            <a:ext cx="2014536" cy="725526"/>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050"/>
          </a:p>
        </p:txBody>
      </p:sp>
      <p:sp>
        <p:nvSpPr>
          <p:cNvPr id="18" name="TextBox 17">
            <a:extLst>
              <a:ext uri="{FF2B5EF4-FFF2-40B4-BE49-F238E27FC236}">
                <a16:creationId xmlns:a16="http://schemas.microsoft.com/office/drawing/2014/main" id="{E395316D-1E70-9E4D-C82D-DC6493EC4CED}"/>
              </a:ext>
            </a:extLst>
          </p:cNvPr>
          <p:cNvSpPr txBox="1"/>
          <p:nvPr/>
        </p:nvSpPr>
        <p:spPr>
          <a:xfrm>
            <a:off x="3070105" y="1506574"/>
            <a:ext cx="5460089" cy="992579"/>
          </a:xfrm>
          <a:prstGeom prst="rect">
            <a:avLst/>
          </a:prstGeom>
          <a:noFill/>
        </p:spPr>
        <p:txBody>
          <a:bodyPr wrap="square" lIns="68580" tIns="34290" rIns="68580" bIns="34290" rtlCol="0" anchor="t">
            <a:spAutoFit/>
          </a:bodyPr>
          <a:lstStyle/>
          <a:p>
            <a:pPr algn="ctr"/>
            <a:r>
              <a:rPr lang="en-US" sz="3000" b="1" dirty="0">
                <a:solidFill>
                  <a:schemeClr val="bg1"/>
                </a:solidFill>
              </a:rPr>
              <a:t>Smart Healthcare Analytics and Patient Insights</a:t>
            </a:r>
            <a:endParaRPr lang="en-US" sz="1050" dirty="0">
              <a:solidFill>
                <a:schemeClr val="bg1"/>
              </a:solidFill>
            </a:endParaRPr>
          </a:p>
        </p:txBody>
      </p:sp>
      <p:sp>
        <p:nvSpPr>
          <p:cNvPr id="2" name="TextBox 1">
            <a:extLst>
              <a:ext uri="{FF2B5EF4-FFF2-40B4-BE49-F238E27FC236}">
                <a16:creationId xmlns:a16="http://schemas.microsoft.com/office/drawing/2014/main" id="{7BC3452E-282B-E1CE-1049-3451E4122F16}"/>
              </a:ext>
            </a:extLst>
          </p:cNvPr>
          <p:cNvSpPr txBox="1"/>
          <p:nvPr/>
        </p:nvSpPr>
        <p:spPr>
          <a:xfrm>
            <a:off x="3570195" y="2621225"/>
            <a:ext cx="4760258" cy="1090748"/>
          </a:xfrm>
          <a:prstGeom prst="rect">
            <a:avLst/>
          </a:prstGeom>
          <a:noFill/>
        </p:spPr>
        <p:txBody>
          <a:bodyPr wrap="square" lIns="68580" tIns="34290" rIns="68580" bIns="34290" rtlCol="0" anchor="t">
            <a:spAutoFit/>
          </a:bodyPr>
          <a:lstStyle/>
          <a:p>
            <a:r>
              <a:rPr lang="en-IN" sz="1050" dirty="0">
                <a:solidFill>
                  <a:schemeClr val="bg1"/>
                </a:solidFill>
              </a:rPr>
              <a:t>Gurnule Snehal</a:t>
            </a:r>
          </a:p>
          <a:p>
            <a:r>
              <a:rPr lang="en-IN" sz="1388" dirty="0">
                <a:solidFill>
                  <a:schemeClr val="bg1"/>
                </a:solidFill>
              </a:rPr>
              <a:t> </a:t>
            </a:r>
          </a:p>
          <a:p>
            <a:r>
              <a:rPr lang="en-IN" sz="1050">
                <a:solidFill>
                  <a:schemeClr val="bg1"/>
                </a:solidFill>
              </a:rPr>
              <a:t>                                                           Raghavendra Rao M S</a:t>
            </a:r>
            <a:endParaRPr lang="en-IN" sz="1050" dirty="0">
              <a:solidFill>
                <a:schemeClr val="bg1"/>
              </a:solidFill>
            </a:endParaRPr>
          </a:p>
          <a:p>
            <a:endParaRPr lang="en-IN" sz="1050" dirty="0">
              <a:solidFill>
                <a:schemeClr val="bg1"/>
              </a:solidFill>
            </a:endParaRPr>
          </a:p>
          <a:p>
            <a:r>
              <a:rPr lang="en-IN" sz="1050" dirty="0">
                <a:solidFill>
                  <a:schemeClr val="bg1"/>
                </a:solidFill>
              </a:rPr>
              <a:t>College Name -  </a:t>
            </a:r>
          </a:p>
          <a:p>
            <a:r>
              <a:rPr lang="en-IN" sz="1050" dirty="0">
                <a:solidFill>
                  <a:schemeClr val="bg1"/>
                </a:solidFill>
              </a:rPr>
              <a:t>Samskruti College of Engineering and Technology</a:t>
            </a:r>
          </a:p>
        </p:txBody>
      </p:sp>
      <p:pic>
        <p:nvPicPr>
          <p:cNvPr id="3" name="Google Shape;110;p4" descr="A close up of a sign&#10;&#10;Description automatically generated">
            <a:extLst>
              <a:ext uri="{FF2B5EF4-FFF2-40B4-BE49-F238E27FC236}">
                <a16:creationId xmlns:a16="http://schemas.microsoft.com/office/drawing/2014/main" id="{C9D4763F-943D-8B76-5275-1ACB09570226}"/>
              </a:ext>
            </a:extLst>
          </p:cNvPr>
          <p:cNvPicPr preferRelativeResize="0"/>
          <p:nvPr/>
        </p:nvPicPr>
        <p:blipFill rotWithShape="1">
          <a:blip r:embed="rId5">
            <a:alphaModFix/>
          </a:blip>
          <a:srcRect/>
          <a:stretch/>
        </p:blipFill>
        <p:spPr>
          <a:xfrm>
            <a:off x="6515658" y="682560"/>
            <a:ext cx="1050529" cy="294230"/>
          </a:xfrm>
          <a:prstGeom prst="rect">
            <a:avLst/>
          </a:prstGeom>
          <a:noFill/>
          <a:ln>
            <a:noFill/>
          </a:ln>
        </p:spPr>
      </p:pic>
      <p:pic>
        <p:nvPicPr>
          <p:cNvPr id="4" name="Picture 3">
            <a:extLst>
              <a:ext uri="{FF2B5EF4-FFF2-40B4-BE49-F238E27FC236}">
                <a16:creationId xmlns:a16="http://schemas.microsoft.com/office/drawing/2014/main" id="{E674D99C-7D68-8689-B1C6-24DB43D956EC}"/>
              </a:ext>
            </a:extLst>
          </p:cNvPr>
          <p:cNvPicPr>
            <a:picLocks noChangeAspect="1"/>
          </p:cNvPicPr>
          <p:nvPr/>
        </p:nvPicPr>
        <p:blipFill>
          <a:blip r:embed="rId6"/>
          <a:stretch>
            <a:fillRect/>
          </a:stretch>
        </p:blipFill>
        <p:spPr>
          <a:xfrm>
            <a:off x="7814889" y="631236"/>
            <a:ext cx="599270" cy="396879"/>
          </a:xfrm>
          <a:prstGeom prst="rect">
            <a:avLst/>
          </a:prstGeom>
        </p:spPr>
      </p:pic>
      <p:cxnSp>
        <p:nvCxnSpPr>
          <p:cNvPr id="7" name="Straight Connector 6">
            <a:extLst>
              <a:ext uri="{FF2B5EF4-FFF2-40B4-BE49-F238E27FC236}">
                <a16:creationId xmlns:a16="http://schemas.microsoft.com/office/drawing/2014/main" id="{66D125F9-AAD5-40C0-C779-53C94B06A077}"/>
              </a:ext>
            </a:extLst>
          </p:cNvPr>
          <p:cNvCxnSpPr/>
          <p:nvPr/>
        </p:nvCxnSpPr>
        <p:spPr>
          <a:xfrm>
            <a:off x="7684789" y="571046"/>
            <a:ext cx="0" cy="475451"/>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Tree>
    <p:custDataLst>
      <p:tags r:id="rId1"/>
    </p:custDataLst>
    <p:extLst>
      <p:ext uri="{BB962C8B-B14F-4D97-AF65-F5344CB8AC3E}">
        <p14:creationId xmlns:p14="http://schemas.microsoft.com/office/powerpoint/2010/main" val="2000950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g5fab984687_2_0"/>
          <p:cNvSpPr txBox="1">
            <a:spLocks noGrp="1"/>
          </p:cNvSpPr>
          <p:nvPr>
            <p:ph type="title" idx="4294967295"/>
          </p:nvPr>
        </p:nvSpPr>
        <p:spPr>
          <a:xfrm>
            <a:off x="364822" y="867160"/>
            <a:ext cx="3009530" cy="21420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1600" b="1">
                <a:solidFill>
                  <a:srgbClr val="213163"/>
                </a:solidFill>
              </a:rPr>
              <a:t>Project Objectives</a:t>
            </a:r>
            <a:endParaRPr sz="1600"/>
          </a:p>
        </p:txBody>
      </p:sp>
      <p:pic>
        <p:nvPicPr>
          <p:cNvPr id="4" name="Picture 3">
            <a:extLst>
              <a:ext uri="{FF2B5EF4-FFF2-40B4-BE49-F238E27FC236}">
                <a16:creationId xmlns:a16="http://schemas.microsoft.com/office/drawing/2014/main" id="{FE6ACA23-A691-BBFF-54D8-448548EFD8C2}"/>
              </a:ext>
            </a:extLst>
          </p:cNvPr>
          <p:cNvPicPr>
            <a:picLocks noChangeAspect="1"/>
          </p:cNvPicPr>
          <p:nvPr/>
        </p:nvPicPr>
        <p:blipFill>
          <a:blip r:embed="rId3"/>
          <a:stretch>
            <a:fillRect/>
          </a:stretch>
        </p:blipFill>
        <p:spPr>
          <a:xfrm>
            <a:off x="5235375" y="1228377"/>
            <a:ext cx="3194940" cy="3194940"/>
          </a:xfrm>
          <a:prstGeom prst="rect">
            <a:avLst/>
          </a:prstGeom>
        </p:spPr>
      </p:pic>
      <p:sp>
        <p:nvSpPr>
          <p:cNvPr id="6" name="Google Shape;62;g5fab984687_2_0">
            <a:extLst>
              <a:ext uri="{FF2B5EF4-FFF2-40B4-BE49-F238E27FC236}">
                <a16:creationId xmlns:a16="http://schemas.microsoft.com/office/drawing/2014/main" id="{2C2DB4A5-624B-CADA-0A3F-8AADD412BC0C}"/>
              </a:ext>
            </a:extLst>
          </p:cNvPr>
          <p:cNvSpPr txBox="1">
            <a:spLocks/>
          </p:cNvSpPr>
          <p:nvPr/>
        </p:nvSpPr>
        <p:spPr>
          <a:xfrm>
            <a:off x="364821" y="1353053"/>
            <a:ext cx="3687225" cy="277198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82880" indent="-18288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Problem Statement</a:t>
            </a:r>
          </a:p>
          <a:p>
            <a:pPr marL="182880" indent="-18288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Project Overview – Introduction</a:t>
            </a:r>
          </a:p>
          <a:p>
            <a:pPr marL="182880" indent="-18288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End Users</a:t>
            </a:r>
          </a:p>
          <a:p>
            <a:pPr marL="182880" indent="-18288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Wow Factor in Project</a:t>
            </a:r>
          </a:p>
          <a:p>
            <a:pPr marL="182880" indent="-18288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Modelling/Block Diagram/Flow of Project</a:t>
            </a:r>
          </a:p>
          <a:p>
            <a:pPr marL="182880" indent="-18288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Result/outcomes</a:t>
            </a:r>
          </a:p>
          <a:p>
            <a:pPr marL="182880" indent="-18288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Conclusion</a:t>
            </a:r>
          </a:p>
          <a:p>
            <a:pPr marL="182880" indent="-18288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Future Perspective</a:t>
            </a:r>
          </a:p>
          <a:p>
            <a:pPr marL="182880" indent="-182880">
              <a:buFont typeface="Arial" panose="020B0604020202020204" pitchFamily="34" charset="0"/>
              <a:buChar char="•"/>
            </a:pPr>
            <a:endParaRPr lang="en-US" dirty="0"/>
          </a:p>
          <a:p>
            <a:pPr marL="182880" indent="-182880">
              <a:buFont typeface="Arial" panose="020B0604020202020204" pitchFamily="34" charset="0"/>
              <a:buChar char="•"/>
            </a:pPr>
            <a:endParaRPr lang="en-US" dirty="0"/>
          </a:p>
          <a:p>
            <a:pPr marL="182880" indent="-182880">
              <a:buFont typeface="Arial" panose="020B0604020202020204" pitchFamily="34" charset="0"/>
              <a:buChar char="•"/>
            </a:pPr>
            <a:endParaRPr lang="en-US" dirty="0"/>
          </a:p>
          <a:p>
            <a:pPr marL="182880" indent="-182880">
              <a:buFont typeface="Arial" panose="020B0604020202020204" pitchFamily="34" charset="0"/>
              <a:buChar char="•"/>
            </a:pPr>
            <a:endParaRPr lang="en-US" dirty="0"/>
          </a:p>
          <a:p>
            <a:pPr marL="182880" indent="-182880">
              <a:buFont typeface="Arial" panose="020B0604020202020204" pitchFamily="34" charset="0"/>
              <a:buChar char="•"/>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F6764B-21BB-C2DC-B5A1-6A2D218BFD12}"/>
              </a:ext>
            </a:extLst>
          </p:cNvPr>
          <p:cNvSpPr>
            <a:spLocks noGrp="1"/>
          </p:cNvSpPr>
          <p:nvPr>
            <p:ph type="title"/>
          </p:nvPr>
        </p:nvSpPr>
        <p:spPr/>
        <p:txBody>
          <a:bodyPr/>
          <a:lstStyle/>
          <a:p>
            <a:r>
              <a:rPr lang="en-IN" sz="2400" dirty="0">
                <a:solidFill>
                  <a:srgbClr val="002060"/>
                </a:solidFill>
              </a:rPr>
              <a:t>Problem Statement</a:t>
            </a:r>
          </a:p>
        </p:txBody>
      </p:sp>
      <p:sp>
        <p:nvSpPr>
          <p:cNvPr id="3" name="TextBox 2">
            <a:extLst>
              <a:ext uri="{FF2B5EF4-FFF2-40B4-BE49-F238E27FC236}">
                <a16:creationId xmlns:a16="http://schemas.microsoft.com/office/drawing/2014/main" id="{E0A5BD50-CA78-C512-F431-01388B15C044}"/>
              </a:ext>
            </a:extLst>
          </p:cNvPr>
          <p:cNvSpPr txBox="1"/>
          <p:nvPr/>
        </p:nvSpPr>
        <p:spPr>
          <a:xfrm>
            <a:off x="490071" y="1649539"/>
            <a:ext cx="3950447" cy="2062103"/>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Healthcare institutions often struggle to convert large volumes of patient and treatment data into actionable insights. This project uses SAP Analytics Cloud to provide interactive analytics for monitoring patient trends, treatment costs, insurance claims, and healthcare outcomes, enabling faster and smarter decision-making.</a:t>
            </a:r>
            <a:endParaRPr lang="en-IN" sz="16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F20C221-61E3-E80D-8C6D-64C02560EBA3}"/>
              </a:ext>
            </a:extLst>
          </p:cNvPr>
          <p:cNvPicPr>
            <a:picLocks noChangeAspect="1"/>
          </p:cNvPicPr>
          <p:nvPr/>
        </p:nvPicPr>
        <p:blipFill>
          <a:blip r:embed="rId2"/>
          <a:stretch>
            <a:fillRect/>
          </a:stretch>
        </p:blipFill>
        <p:spPr>
          <a:xfrm>
            <a:off x="4834965" y="1174520"/>
            <a:ext cx="3997335" cy="3012143"/>
          </a:xfrm>
          <a:prstGeom prst="rect">
            <a:avLst/>
          </a:prstGeom>
        </p:spPr>
      </p:pic>
    </p:spTree>
    <p:extLst>
      <p:ext uri="{BB962C8B-B14F-4D97-AF65-F5344CB8AC3E}">
        <p14:creationId xmlns:p14="http://schemas.microsoft.com/office/powerpoint/2010/main" val="16079936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F6764B-21BB-C2DC-B5A1-6A2D218BFD12}"/>
              </a:ext>
            </a:extLst>
          </p:cNvPr>
          <p:cNvSpPr>
            <a:spLocks noGrp="1"/>
          </p:cNvSpPr>
          <p:nvPr>
            <p:ph type="title"/>
          </p:nvPr>
        </p:nvSpPr>
        <p:spPr/>
        <p:txBody>
          <a:bodyPr/>
          <a:lstStyle/>
          <a:p>
            <a:r>
              <a:rPr lang="en-IN" sz="2400">
                <a:solidFill>
                  <a:srgbClr val="002060"/>
                </a:solidFill>
              </a:rPr>
              <a:t>Project overview - Introduction</a:t>
            </a:r>
          </a:p>
        </p:txBody>
      </p:sp>
      <p:sp>
        <p:nvSpPr>
          <p:cNvPr id="3" name="TextBox 2">
            <a:extLst>
              <a:ext uri="{FF2B5EF4-FFF2-40B4-BE49-F238E27FC236}">
                <a16:creationId xmlns:a16="http://schemas.microsoft.com/office/drawing/2014/main" id="{4DEA6AC5-AF68-AD61-8D76-83D230E14296}"/>
              </a:ext>
            </a:extLst>
          </p:cNvPr>
          <p:cNvSpPr txBox="1"/>
          <p:nvPr/>
        </p:nvSpPr>
        <p:spPr>
          <a:xfrm>
            <a:off x="4058023" y="1944806"/>
            <a:ext cx="4488329" cy="1815882"/>
          </a:xfrm>
          <a:prstGeom prst="rect">
            <a:avLst/>
          </a:prstGeom>
          <a:noFill/>
        </p:spPr>
        <p:txBody>
          <a:bodyPr wrap="square">
            <a:spAutoFit/>
          </a:bodyPr>
          <a:lstStyle/>
          <a:p>
            <a:pPr algn="just"/>
            <a:r>
              <a:rPr lang="en-US" sz="1600" dirty="0">
                <a:latin typeface="Times New Roman" panose="02020603050405020304" pitchFamily="18" charset="0"/>
                <a:cs typeface="Times New Roman" panose="02020603050405020304" pitchFamily="18" charset="0"/>
              </a:rPr>
              <a:t>Smart Healthcare Analytics and Patient Insights is an SAP Analytics Cloud-based solution that converts healthcare data into actionable insights through interactive dashboards. It helps analyze patient trends, disease patterns, treatment costs, insurance claims, and healthcare outcomes to support data-driven decision-making.</a:t>
            </a:r>
            <a:endParaRPr lang="en-IN" sz="16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43D64478-4E44-B5EB-DF18-627D613683E9}"/>
              </a:ext>
            </a:extLst>
          </p:cNvPr>
          <p:cNvPicPr>
            <a:picLocks noChangeAspect="1"/>
          </p:cNvPicPr>
          <p:nvPr/>
        </p:nvPicPr>
        <p:blipFill>
          <a:blip r:embed="rId2"/>
          <a:stretch>
            <a:fillRect/>
          </a:stretch>
        </p:blipFill>
        <p:spPr>
          <a:xfrm>
            <a:off x="418353" y="1338729"/>
            <a:ext cx="3155576" cy="3089836"/>
          </a:xfrm>
          <a:prstGeom prst="rect">
            <a:avLst/>
          </a:prstGeom>
        </p:spPr>
      </p:pic>
    </p:spTree>
    <p:extLst>
      <p:ext uri="{BB962C8B-B14F-4D97-AF65-F5344CB8AC3E}">
        <p14:creationId xmlns:p14="http://schemas.microsoft.com/office/powerpoint/2010/main" val="3764415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F6764B-21BB-C2DC-B5A1-6A2D218BFD12}"/>
              </a:ext>
            </a:extLst>
          </p:cNvPr>
          <p:cNvSpPr>
            <a:spLocks noGrp="1"/>
          </p:cNvSpPr>
          <p:nvPr>
            <p:ph type="title"/>
          </p:nvPr>
        </p:nvSpPr>
        <p:spPr/>
        <p:txBody>
          <a:bodyPr/>
          <a:lstStyle/>
          <a:p>
            <a:r>
              <a:rPr lang="en-IN" sz="2400" dirty="0">
                <a:solidFill>
                  <a:srgbClr val="002060"/>
                </a:solidFill>
              </a:rPr>
              <a:t>End User</a:t>
            </a:r>
          </a:p>
        </p:txBody>
      </p:sp>
      <p:sp>
        <p:nvSpPr>
          <p:cNvPr id="2" name="Text Placeholder 1">
            <a:extLst>
              <a:ext uri="{FF2B5EF4-FFF2-40B4-BE49-F238E27FC236}">
                <a16:creationId xmlns:a16="http://schemas.microsoft.com/office/drawing/2014/main" id="{49345E7C-6082-70BA-B370-80E08FAC0095}"/>
              </a:ext>
            </a:extLst>
          </p:cNvPr>
          <p:cNvSpPr>
            <a:spLocks noGrp="1"/>
          </p:cNvSpPr>
          <p:nvPr>
            <p:ph type="body" idx="1"/>
          </p:nvPr>
        </p:nvSpPr>
        <p:spPr/>
        <p:txBody>
          <a:bodyPr/>
          <a:lstStyle/>
          <a:p>
            <a:r>
              <a:rPr lang="en-IN" b="1" dirty="0">
                <a:latin typeface="Times New Roman" panose="02020603050405020304" pitchFamily="18" charset="0"/>
                <a:cs typeface="Times New Roman" panose="02020603050405020304" pitchFamily="18" charset="0"/>
              </a:rPr>
              <a:t>Hospital Management</a:t>
            </a:r>
          </a:p>
          <a:p>
            <a:pPr marL="139697" indent="0">
              <a:buNone/>
            </a:pPr>
            <a:r>
              <a:rPr lang="en-IN" dirty="0">
                <a:latin typeface="Times New Roman" panose="02020603050405020304" pitchFamily="18" charset="0"/>
                <a:cs typeface="Times New Roman" panose="02020603050405020304" pitchFamily="18" charset="0"/>
              </a:rPr>
              <a:t>        Monitor hospital performance </a:t>
            </a:r>
          </a:p>
          <a:p>
            <a:pPr marL="139697" indent="0">
              <a:buNone/>
            </a:pPr>
            <a:r>
              <a:rPr lang="en-IN" dirty="0">
                <a:latin typeface="Times New Roman" panose="02020603050405020304" pitchFamily="18" charset="0"/>
                <a:cs typeface="Times New Roman" panose="02020603050405020304" pitchFamily="18" charset="0"/>
              </a:rPr>
              <a:t>        Resource planning</a:t>
            </a:r>
          </a:p>
          <a:p>
            <a:endParaRPr lang="en-IN" dirty="0"/>
          </a:p>
          <a:p>
            <a:r>
              <a:rPr lang="en-US" b="1" dirty="0">
                <a:latin typeface="Times New Roman" panose="02020603050405020304" pitchFamily="18" charset="0"/>
                <a:cs typeface="Times New Roman" panose="02020603050405020304" pitchFamily="18" charset="0"/>
              </a:rPr>
              <a:t>Healthcare Administrators</a:t>
            </a:r>
          </a:p>
          <a:p>
            <a:pPr marL="139697" indent="0">
              <a:buNone/>
            </a:pPr>
            <a:r>
              <a:rPr lang="en-US" dirty="0">
                <a:latin typeface="Times New Roman" panose="02020603050405020304" pitchFamily="18" charset="0"/>
                <a:cs typeface="Times New Roman" panose="02020603050405020304" pitchFamily="18" charset="0"/>
              </a:rPr>
              <a:t>        Track patient trends </a:t>
            </a:r>
          </a:p>
          <a:p>
            <a:pPr marL="139697" indent="0">
              <a:buNone/>
            </a:pPr>
            <a:r>
              <a:rPr lang="en-US" dirty="0">
                <a:latin typeface="Times New Roman" panose="02020603050405020304" pitchFamily="18" charset="0"/>
                <a:cs typeface="Times New Roman" panose="02020603050405020304" pitchFamily="18" charset="0"/>
              </a:rPr>
              <a:t>        Analyze treatment effectiveness</a:t>
            </a:r>
          </a:p>
          <a:p>
            <a:endParaRPr lang="en-IN" dirty="0"/>
          </a:p>
          <a:p>
            <a:r>
              <a:rPr lang="en-US" b="1" dirty="0">
                <a:latin typeface="Times New Roman" panose="02020603050405020304" pitchFamily="18" charset="0"/>
                <a:cs typeface="Times New Roman" panose="02020603050405020304" pitchFamily="18" charset="0"/>
              </a:rPr>
              <a:t>Financial Department</a:t>
            </a:r>
          </a:p>
          <a:p>
            <a:pPr marL="139697" indent="0">
              <a:buNone/>
            </a:pPr>
            <a:r>
              <a:rPr lang="en-US" dirty="0">
                <a:latin typeface="Times New Roman" panose="02020603050405020304" pitchFamily="18" charset="0"/>
                <a:cs typeface="Times New Roman" panose="02020603050405020304" pitchFamily="18" charset="0"/>
              </a:rPr>
              <a:t>        Monitor treatment costs </a:t>
            </a:r>
          </a:p>
          <a:p>
            <a:pPr marL="139697" indent="0">
              <a:buNone/>
            </a:pPr>
            <a:r>
              <a:rPr lang="en-US" dirty="0">
                <a:latin typeface="Times New Roman" panose="02020603050405020304" pitchFamily="18" charset="0"/>
                <a:cs typeface="Times New Roman" panose="02020603050405020304" pitchFamily="18" charset="0"/>
              </a:rPr>
              <a:t>        Analyze insurance claims</a:t>
            </a:r>
          </a:p>
          <a:p>
            <a:endParaRPr lang="en-IN" dirty="0"/>
          </a:p>
        </p:txBody>
      </p:sp>
      <p:sp>
        <p:nvSpPr>
          <p:cNvPr id="3" name="Text Placeholder 2">
            <a:extLst>
              <a:ext uri="{FF2B5EF4-FFF2-40B4-BE49-F238E27FC236}">
                <a16:creationId xmlns:a16="http://schemas.microsoft.com/office/drawing/2014/main" id="{4F8E371A-86AE-808E-28E3-F8C180648940}"/>
              </a:ext>
            </a:extLst>
          </p:cNvPr>
          <p:cNvSpPr>
            <a:spLocks noGrp="1"/>
          </p:cNvSpPr>
          <p:nvPr>
            <p:ph type="body" idx="2"/>
          </p:nvPr>
        </p:nvSpPr>
        <p:spPr>
          <a:xfrm>
            <a:off x="4572000" y="1152475"/>
            <a:ext cx="3999900" cy="3416400"/>
          </a:xfrm>
        </p:spPr>
        <p:txBody>
          <a:bodyPr/>
          <a:lstStyle/>
          <a:p>
            <a:r>
              <a:rPr lang="en-US" b="1" dirty="0">
                <a:latin typeface="Times New Roman" panose="02020603050405020304" pitchFamily="18" charset="0"/>
                <a:cs typeface="Times New Roman" panose="02020603050405020304" pitchFamily="18" charset="0"/>
              </a:rPr>
              <a:t>Policy Makers</a:t>
            </a:r>
          </a:p>
          <a:p>
            <a:pPr marL="139697" indent="0">
              <a:buNone/>
            </a:pPr>
            <a:r>
              <a:rPr lang="en-US" dirty="0">
                <a:latin typeface="Times New Roman" panose="02020603050405020304" pitchFamily="18" charset="0"/>
                <a:cs typeface="Times New Roman" panose="02020603050405020304" pitchFamily="18" charset="0"/>
              </a:rPr>
              <a:t>        Identify regional healthcare trends </a:t>
            </a:r>
          </a:p>
          <a:p>
            <a:pPr marL="139697" indent="0">
              <a:buNone/>
            </a:pPr>
            <a:r>
              <a:rPr lang="en-US" dirty="0">
                <a:latin typeface="Times New Roman" panose="02020603050405020304" pitchFamily="18" charset="0"/>
                <a:cs typeface="Times New Roman" panose="02020603050405020304" pitchFamily="18" charset="0"/>
              </a:rPr>
              <a:t>        Support healthcare planning</a:t>
            </a:r>
          </a:p>
          <a:p>
            <a:endParaRPr lang="en-IN" dirty="0"/>
          </a:p>
          <a:p>
            <a:r>
              <a:rPr lang="en-US" b="1" dirty="0">
                <a:latin typeface="Times New Roman" panose="02020603050405020304" pitchFamily="18" charset="0"/>
                <a:cs typeface="Times New Roman" panose="02020603050405020304" pitchFamily="18" charset="0"/>
              </a:rPr>
              <a:t>Medical Researchers</a:t>
            </a:r>
          </a:p>
          <a:p>
            <a:pPr marL="139697" indent="0">
              <a:buNone/>
            </a:pPr>
            <a:r>
              <a:rPr lang="en-US" dirty="0">
                <a:latin typeface="Times New Roman" panose="02020603050405020304" pitchFamily="18" charset="0"/>
                <a:cs typeface="Times New Roman" panose="02020603050405020304" pitchFamily="18" charset="0"/>
              </a:rPr>
              <a:t>        Study disease patterns </a:t>
            </a:r>
          </a:p>
          <a:p>
            <a:pPr marL="139697" indent="0">
              <a:buNone/>
            </a:pPr>
            <a:r>
              <a:rPr lang="en-US" dirty="0">
                <a:latin typeface="Times New Roman" panose="02020603050405020304" pitchFamily="18" charset="0"/>
                <a:cs typeface="Times New Roman" panose="02020603050405020304" pitchFamily="18" charset="0"/>
              </a:rPr>
              <a:t>        Evaluate treatment outcomes</a:t>
            </a:r>
          </a:p>
          <a:p>
            <a:endParaRPr lang="en-IN" dirty="0"/>
          </a:p>
        </p:txBody>
      </p:sp>
    </p:spTree>
    <p:extLst>
      <p:ext uri="{BB962C8B-B14F-4D97-AF65-F5344CB8AC3E}">
        <p14:creationId xmlns:p14="http://schemas.microsoft.com/office/powerpoint/2010/main" val="1119326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F6764B-21BB-C2DC-B5A1-6A2D218BFD12}"/>
              </a:ext>
            </a:extLst>
          </p:cNvPr>
          <p:cNvSpPr>
            <a:spLocks noGrp="1"/>
          </p:cNvSpPr>
          <p:nvPr>
            <p:ph type="title"/>
          </p:nvPr>
        </p:nvSpPr>
        <p:spPr/>
        <p:txBody>
          <a:bodyPr/>
          <a:lstStyle/>
          <a:p>
            <a:r>
              <a:rPr lang="en-IN" sz="2400">
                <a:solidFill>
                  <a:srgbClr val="002060"/>
                </a:solidFill>
              </a:rPr>
              <a:t>Wow Factor in Solution</a:t>
            </a:r>
          </a:p>
        </p:txBody>
      </p:sp>
      <p:sp>
        <p:nvSpPr>
          <p:cNvPr id="2" name="Text Placeholder 1">
            <a:extLst>
              <a:ext uri="{FF2B5EF4-FFF2-40B4-BE49-F238E27FC236}">
                <a16:creationId xmlns:a16="http://schemas.microsoft.com/office/drawing/2014/main" id="{91599E5E-0896-F8E8-2B48-92918AD24A46}"/>
              </a:ext>
            </a:extLst>
          </p:cNvPr>
          <p:cNvSpPr>
            <a:spLocks noGrp="1"/>
          </p:cNvSpPr>
          <p:nvPr>
            <p:ph type="body" idx="1"/>
          </p:nvPr>
        </p:nvSpPr>
        <p:spPr>
          <a:xfrm>
            <a:off x="311700" y="1152475"/>
            <a:ext cx="3999900" cy="2242160"/>
          </a:xfrm>
        </p:spPr>
        <p:txBody>
          <a:bodyPr/>
          <a:lstStyle/>
          <a:p>
            <a:r>
              <a:rPr lang="en-IN" dirty="0">
                <a:latin typeface="Times New Roman" panose="02020603050405020304" pitchFamily="18" charset="0"/>
                <a:cs typeface="Times New Roman" panose="02020603050405020304" pitchFamily="18" charset="0"/>
              </a:rPr>
              <a:t>Interactive Multi-Page SAC Dashboards</a:t>
            </a:r>
          </a:p>
          <a:p>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Dynamic Filtering and Drill-Down Analysis</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Disease-Wise Patient Insights</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Insurance Claim Analytics</a:t>
            </a:r>
          </a:p>
        </p:txBody>
      </p:sp>
      <p:sp>
        <p:nvSpPr>
          <p:cNvPr id="3" name="Text Placeholder 2">
            <a:extLst>
              <a:ext uri="{FF2B5EF4-FFF2-40B4-BE49-F238E27FC236}">
                <a16:creationId xmlns:a16="http://schemas.microsoft.com/office/drawing/2014/main" id="{A83367BB-9754-505B-FBFF-57059A6A2B79}"/>
              </a:ext>
            </a:extLst>
          </p:cNvPr>
          <p:cNvSpPr>
            <a:spLocks noGrp="1"/>
          </p:cNvSpPr>
          <p:nvPr>
            <p:ph type="body" idx="2"/>
          </p:nvPr>
        </p:nvSpPr>
        <p:spPr>
          <a:xfrm>
            <a:off x="4832400" y="1152475"/>
            <a:ext cx="3999900" cy="2242160"/>
          </a:xfrm>
        </p:spPr>
        <p:txBody>
          <a:bodyPr/>
          <a:lstStyle/>
          <a:p>
            <a:r>
              <a:rPr lang="en-IN" dirty="0">
                <a:latin typeface="Times New Roman" panose="02020603050405020304" pitchFamily="18" charset="0"/>
                <a:cs typeface="Times New Roman" panose="02020603050405020304" pitchFamily="18" charset="0"/>
              </a:rPr>
              <a:t>Treatment Cost Optimization Insights</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Patient Outcome Monitoring</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Smart Insights and Forecasting</a:t>
            </a:r>
          </a:p>
        </p:txBody>
      </p:sp>
      <p:sp>
        <p:nvSpPr>
          <p:cNvPr id="6" name="TextBox 5">
            <a:extLst>
              <a:ext uri="{FF2B5EF4-FFF2-40B4-BE49-F238E27FC236}">
                <a16:creationId xmlns:a16="http://schemas.microsoft.com/office/drawing/2014/main" id="{4EADC58C-726C-F1D9-CA19-241BBE772E48}"/>
              </a:ext>
            </a:extLst>
          </p:cNvPr>
          <p:cNvSpPr txBox="1"/>
          <p:nvPr/>
        </p:nvSpPr>
        <p:spPr>
          <a:xfrm>
            <a:off x="475130" y="3394635"/>
            <a:ext cx="4572000" cy="338554"/>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Innovation</a:t>
            </a:r>
          </a:p>
        </p:txBody>
      </p:sp>
      <p:sp>
        <p:nvSpPr>
          <p:cNvPr id="8" name="TextBox 7">
            <a:extLst>
              <a:ext uri="{FF2B5EF4-FFF2-40B4-BE49-F238E27FC236}">
                <a16:creationId xmlns:a16="http://schemas.microsoft.com/office/drawing/2014/main" id="{F345C356-56EE-B961-91A6-2CCF9203F291}"/>
              </a:ext>
            </a:extLst>
          </p:cNvPr>
          <p:cNvSpPr txBox="1"/>
          <p:nvPr/>
        </p:nvSpPr>
        <p:spPr>
          <a:xfrm>
            <a:off x="475130" y="3733189"/>
            <a:ext cx="7885952" cy="523220"/>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Instead of static reports, the solution provides real-time, interactive healthcare intelligence enabling data-driven decision-making.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43088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F6764B-21BB-C2DC-B5A1-6A2D218BFD12}"/>
              </a:ext>
            </a:extLst>
          </p:cNvPr>
          <p:cNvSpPr>
            <a:spLocks noGrp="1"/>
          </p:cNvSpPr>
          <p:nvPr>
            <p:ph type="title"/>
          </p:nvPr>
        </p:nvSpPr>
        <p:spPr/>
        <p:txBody>
          <a:bodyPr/>
          <a:lstStyle/>
          <a:p>
            <a:r>
              <a:rPr lang="en-US" sz="2400" dirty="0">
                <a:solidFill>
                  <a:srgbClr val="002060"/>
                </a:solidFill>
              </a:rPr>
              <a:t>F</a:t>
            </a:r>
            <a:r>
              <a:rPr lang="en-IN" sz="2400" dirty="0">
                <a:solidFill>
                  <a:srgbClr val="002060"/>
                </a:solidFill>
              </a:rPr>
              <a:t>low of Project</a:t>
            </a:r>
          </a:p>
        </p:txBody>
      </p:sp>
      <p:sp>
        <p:nvSpPr>
          <p:cNvPr id="2" name="TextBox 1">
            <a:extLst>
              <a:ext uri="{FF2B5EF4-FFF2-40B4-BE49-F238E27FC236}">
                <a16:creationId xmlns:a16="http://schemas.microsoft.com/office/drawing/2014/main" id="{48E43D08-7A70-8CFC-4F94-F58F70673CDC}"/>
              </a:ext>
            </a:extLst>
          </p:cNvPr>
          <p:cNvSpPr txBox="1"/>
          <p:nvPr/>
        </p:nvSpPr>
        <p:spPr>
          <a:xfrm>
            <a:off x="514905" y="1642369"/>
            <a:ext cx="8185212" cy="369332"/>
          </a:xfrm>
          <a:prstGeom prst="rect">
            <a:avLst/>
          </a:prstGeom>
          <a:noFill/>
        </p:spPr>
        <p:txBody>
          <a:bodyPr wrap="square" rtlCol="0">
            <a:spAutoFit/>
          </a:bodyPr>
          <a:lstStyle/>
          <a:p>
            <a:r>
              <a:rPr lang="en-IN" sz="1800" b="0" i="0" dirty="0">
                <a:solidFill>
                  <a:srgbClr val="000000"/>
                </a:solidFill>
                <a:effectLst/>
                <a:latin typeface="Calibri" panose="020F0502020204030204" pitchFamily="34" charset="0"/>
              </a:rPr>
              <a:t>​</a:t>
            </a:r>
            <a:endParaRPr lang="en-IN" b="0" i="0" dirty="0">
              <a:solidFill>
                <a:srgbClr val="000000"/>
              </a:solidFill>
              <a:effectLst/>
              <a:latin typeface="Arial" panose="020B0604020202020204" pitchFamily="34" charset="0"/>
            </a:endParaRPr>
          </a:p>
        </p:txBody>
      </p:sp>
      <p:pic>
        <p:nvPicPr>
          <p:cNvPr id="4" name="Picture 3">
            <a:extLst>
              <a:ext uri="{FF2B5EF4-FFF2-40B4-BE49-F238E27FC236}">
                <a16:creationId xmlns:a16="http://schemas.microsoft.com/office/drawing/2014/main" id="{59EA7C7E-FDB3-642B-56A4-5FA4731B6D99}"/>
              </a:ext>
            </a:extLst>
          </p:cNvPr>
          <p:cNvPicPr>
            <a:picLocks noChangeAspect="1"/>
          </p:cNvPicPr>
          <p:nvPr/>
        </p:nvPicPr>
        <p:blipFill>
          <a:blip r:embed="rId2"/>
          <a:stretch>
            <a:fillRect/>
          </a:stretch>
        </p:blipFill>
        <p:spPr>
          <a:xfrm>
            <a:off x="634253" y="902447"/>
            <a:ext cx="3429000" cy="4241053"/>
          </a:xfrm>
          <a:prstGeom prst="rect">
            <a:avLst/>
          </a:prstGeom>
        </p:spPr>
      </p:pic>
      <p:sp>
        <p:nvSpPr>
          <p:cNvPr id="7" name="TextBox 6">
            <a:extLst>
              <a:ext uri="{FF2B5EF4-FFF2-40B4-BE49-F238E27FC236}">
                <a16:creationId xmlns:a16="http://schemas.microsoft.com/office/drawing/2014/main" id="{2578529F-2B4E-B344-0535-42F6C94C5F4D}"/>
              </a:ext>
            </a:extLst>
          </p:cNvPr>
          <p:cNvSpPr txBox="1"/>
          <p:nvPr/>
        </p:nvSpPr>
        <p:spPr>
          <a:xfrm>
            <a:off x="4315276" y="1593953"/>
            <a:ext cx="4132817" cy="2638992"/>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healthcare dataset is first cleaned and transformed to improve data quality and create meaningful analytical fields such as Age Group, Stay Duration, Patient Count, and Recovery Flag. The processed data is then imported into SAP Analytics Cloud, where data modelling, KPI creation, and interactive stories are developed to generate actionable healthcare insights and support data-driven decision-making.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5609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F6764B-21BB-C2DC-B5A1-6A2D218BFD12}"/>
              </a:ext>
            </a:extLst>
          </p:cNvPr>
          <p:cNvSpPr>
            <a:spLocks noGrp="1"/>
          </p:cNvSpPr>
          <p:nvPr>
            <p:ph type="title"/>
          </p:nvPr>
        </p:nvSpPr>
        <p:spPr/>
        <p:txBody>
          <a:bodyPr/>
          <a:lstStyle/>
          <a:p>
            <a:r>
              <a:rPr lang="en-IN" sz="2400" dirty="0">
                <a:solidFill>
                  <a:srgbClr val="002060"/>
                </a:solidFill>
              </a:rPr>
              <a:t>Result / Outcomes</a:t>
            </a:r>
            <a:br>
              <a:rPr lang="en-IN" sz="2400" dirty="0">
                <a:solidFill>
                  <a:srgbClr val="002060"/>
                </a:solidFill>
              </a:rPr>
            </a:br>
            <a:endParaRPr lang="en-US" dirty="0"/>
          </a:p>
        </p:txBody>
      </p:sp>
      <p:sp>
        <p:nvSpPr>
          <p:cNvPr id="2" name="TextBox 1">
            <a:extLst>
              <a:ext uri="{FF2B5EF4-FFF2-40B4-BE49-F238E27FC236}">
                <a16:creationId xmlns:a16="http://schemas.microsoft.com/office/drawing/2014/main" id="{48E43D08-7A70-8CFC-4F94-F58F70673CDC}"/>
              </a:ext>
            </a:extLst>
          </p:cNvPr>
          <p:cNvSpPr txBox="1"/>
          <p:nvPr/>
        </p:nvSpPr>
        <p:spPr>
          <a:xfrm>
            <a:off x="514905" y="1642369"/>
            <a:ext cx="8185212" cy="369332"/>
          </a:xfrm>
          <a:prstGeom prst="rect">
            <a:avLst/>
          </a:prstGeom>
          <a:noFill/>
        </p:spPr>
        <p:txBody>
          <a:bodyPr wrap="square" rtlCol="0">
            <a:spAutoFit/>
          </a:bodyPr>
          <a:lstStyle/>
          <a:p>
            <a:r>
              <a:rPr lang="en-IN" sz="1800" b="0" i="0" dirty="0">
                <a:solidFill>
                  <a:srgbClr val="000000"/>
                </a:solidFill>
                <a:effectLst/>
                <a:latin typeface="Calibri" panose="020F0502020204030204" pitchFamily="34" charset="0"/>
              </a:rPr>
              <a:t>​</a:t>
            </a:r>
            <a:endParaRPr lang="en-IN" b="0" i="0" dirty="0">
              <a:solidFill>
                <a:srgbClr val="000000"/>
              </a:solidFill>
              <a:effectLst/>
              <a:latin typeface="Arial" panose="020B0604020202020204" pitchFamily="34" charset="0"/>
            </a:endParaRPr>
          </a:p>
        </p:txBody>
      </p:sp>
      <p:pic>
        <p:nvPicPr>
          <p:cNvPr id="4" name="Picture 3">
            <a:extLst>
              <a:ext uri="{FF2B5EF4-FFF2-40B4-BE49-F238E27FC236}">
                <a16:creationId xmlns:a16="http://schemas.microsoft.com/office/drawing/2014/main" id="{288C2A28-1539-8E57-8528-6F7DCA338B31}"/>
              </a:ext>
            </a:extLst>
          </p:cNvPr>
          <p:cNvPicPr>
            <a:picLocks noChangeAspect="1"/>
          </p:cNvPicPr>
          <p:nvPr/>
        </p:nvPicPr>
        <p:blipFill>
          <a:blip r:embed="rId2"/>
          <a:stretch>
            <a:fillRect/>
          </a:stretch>
        </p:blipFill>
        <p:spPr>
          <a:xfrm>
            <a:off x="573741" y="1017725"/>
            <a:ext cx="3860799" cy="1955774"/>
          </a:xfrm>
          <a:prstGeom prst="rect">
            <a:avLst/>
          </a:prstGeom>
        </p:spPr>
      </p:pic>
      <p:pic>
        <p:nvPicPr>
          <p:cNvPr id="7" name="Picture 6">
            <a:extLst>
              <a:ext uri="{FF2B5EF4-FFF2-40B4-BE49-F238E27FC236}">
                <a16:creationId xmlns:a16="http://schemas.microsoft.com/office/drawing/2014/main" id="{E804E851-9E83-83B5-CE1E-BC313D9A3B6C}"/>
              </a:ext>
            </a:extLst>
          </p:cNvPr>
          <p:cNvPicPr>
            <a:picLocks noChangeAspect="1"/>
          </p:cNvPicPr>
          <p:nvPr/>
        </p:nvPicPr>
        <p:blipFill>
          <a:blip r:embed="rId3"/>
          <a:stretch>
            <a:fillRect/>
          </a:stretch>
        </p:blipFill>
        <p:spPr>
          <a:xfrm>
            <a:off x="4971501" y="1017725"/>
            <a:ext cx="3860799" cy="1955774"/>
          </a:xfrm>
          <a:prstGeom prst="rect">
            <a:avLst/>
          </a:prstGeom>
        </p:spPr>
      </p:pic>
      <p:pic>
        <p:nvPicPr>
          <p:cNvPr id="9" name="Picture 8">
            <a:extLst>
              <a:ext uri="{FF2B5EF4-FFF2-40B4-BE49-F238E27FC236}">
                <a16:creationId xmlns:a16="http://schemas.microsoft.com/office/drawing/2014/main" id="{271C5C92-5CDD-2182-8600-8AF0BD922159}"/>
              </a:ext>
            </a:extLst>
          </p:cNvPr>
          <p:cNvPicPr>
            <a:picLocks noChangeAspect="1"/>
          </p:cNvPicPr>
          <p:nvPr/>
        </p:nvPicPr>
        <p:blipFill>
          <a:blip r:embed="rId4"/>
          <a:stretch>
            <a:fillRect/>
          </a:stretch>
        </p:blipFill>
        <p:spPr>
          <a:xfrm>
            <a:off x="573740" y="3089835"/>
            <a:ext cx="3860799" cy="1955774"/>
          </a:xfrm>
          <a:prstGeom prst="rect">
            <a:avLst/>
          </a:prstGeom>
        </p:spPr>
      </p:pic>
      <p:pic>
        <p:nvPicPr>
          <p:cNvPr id="11" name="Picture 10">
            <a:extLst>
              <a:ext uri="{FF2B5EF4-FFF2-40B4-BE49-F238E27FC236}">
                <a16:creationId xmlns:a16="http://schemas.microsoft.com/office/drawing/2014/main" id="{64C47C54-2C34-8045-D452-1E92C9D9424F}"/>
              </a:ext>
            </a:extLst>
          </p:cNvPr>
          <p:cNvPicPr>
            <a:picLocks noChangeAspect="1"/>
          </p:cNvPicPr>
          <p:nvPr/>
        </p:nvPicPr>
        <p:blipFill>
          <a:blip r:embed="rId5"/>
          <a:stretch>
            <a:fillRect/>
          </a:stretch>
        </p:blipFill>
        <p:spPr>
          <a:xfrm>
            <a:off x="4971500" y="3089835"/>
            <a:ext cx="3860799" cy="1955774"/>
          </a:xfrm>
          <a:prstGeom prst="rect">
            <a:avLst/>
          </a:prstGeom>
        </p:spPr>
      </p:pic>
    </p:spTree>
    <p:extLst>
      <p:ext uri="{BB962C8B-B14F-4D97-AF65-F5344CB8AC3E}">
        <p14:creationId xmlns:p14="http://schemas.microsoft.com/office/powerpoint/2010/main" val="2016077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F6764B-21BB-C2DC-B5A1-6A2D218BFD12}"/>
              </a:ext>
            </a:extLst>
          </p:cNvPr>
          <p:cNvSpPr>
            <a:spLocks noGrp="1"/>
          </p:cNvSpPr>
          <p:nvPr>
            <p:ph type="title"/>
          </p:nvPr>
        </p:nvSpPr>
        <p:spPr/>
        <p:txBody>
          <a:bodyPr/>
          <a:lstStyle/>
          <a:p>
            <a:r>
              <a:rPr lang="en-IN" sz="2400">
                <a:solidFill>
                  <a:srgbClr val="002060"/>
                </a:solidFill>
              </a:rPr>
              <a:t>Conclusion</a:t>
            </a:r>
          </a:p>
        </p:txBody>
      </p:sp>
      <p:sp>
        <p:nvSpPr>
          <p:cNvPr id="3" name="TextBox 2">
            <a:extLst>
              <a:ext uri="{FF2B5EF4-FFF2-40B4-BE49-F238E27FC236}">
                <a16:creationId xmlns:a16="http://schemas.microsoft.com/office/drawing/2014/main" id="{711B178F-D3DD-B09D-26BE-03089D153D75}"/>
              </a:ext>
            </a:extLst>
          </p:cNvPr>
          <p:cNvSpPr txBox="1"/>
          <p:nvPr/>
        </p:nvSpPr>
        <p:spPr>
          <a:xfrm>
            <a:off x="537881" y="1234042"/>
            <a:ext cx="7273365" cy="3754874"/>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The Smart Healthcare Analytics and Patient Insights project successfully demonstrates how SAP Analytics Cloud can transform healthcare data into meaningful and actionable insights. By analyzing patient demographics, disease patterns, treatment costs, insurance claims, and healthcare outcomes through interactive dashboards, the solution enables efficient monitoring and informed decision-making. The project highlights the power of data-driven healthcare analytics in improving operational efficiency, resource planning, and overall healthcare management.</a:t>
            </a:r>
          </a:p>
          <a:p>
            <a:endParaRPr lang="en-US" dirty="0"/>
          </a:p>
          <a:p>
            <a:endParaRPr lang="en-US" dirty="0"/>
          </a:p>
          <a:p>
            <a:pPr>
              <a:lnSpc>
                <a:spcPct val="150000"/>
              </a:lnSpc>
            </a:pPr>
            <a:r>
              <a:rPr lang="en-US" dirty="0">
                <a:latin typeface="Times New Roman" panose="02020603050405020304" pitchFamily="18" charset="0"/>
                <a:cs typeface="Times New Roman" panose="02020603050405020304" pitchFamily="18" charset="0"/>
              </a:rPr>
              <a:t>Through interactive dashboards, healthcare organizations can:</a:t>
            </a: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Monitor patient trends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Analyze disease patterns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Evaluate treatment costs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 insurance management </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Support data-driven decision-making</a:t>
            </a:r>
          </a:p>
          <a:p>
            <a:pPr>
              <a:buFont typeface="Arial" panose="020B0604020202020204" pitchFamily="34" charset="0"/>
              <a:buChar char="•"/>
            </a:pPr>
            <a:endParaRPr lang="en-US" dirty="0"/>
          </a:p>
          <a:p>
            <a:r>
              <a:rPr lang="en-US" dirty="0"/>
              <a:t> </a:t>
            </a:r>
          </a:p>
        </p:txBody>
      </p:sp>
    </p:spTree>
    <p:extLst>
      <p:ext uri="{BB962C8B-B14F-4D97-AF65-F5344CB8AC3E}">
        <p14:creationId xmlns:p14="http://schemas.microsoft.com/office/powerpoint/2010/main" val="1730388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8EAFC-3A57-AD7E-8CB9-F8A9F0B4D80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3EABD15-8138-43E4-DD67-E9ECE24A5AEE}"/>
              </a:ext>
            </a:extLst>
          </p:cNvPr>
          <p:cNvSpPr>
            <a:spLocks noGrp="1"/>
          </p:cNvSpPr>
          <p:nvPr>
            <p:ph type="title"/>
          </p:nvPr>
        </p:nvSpPr>
        <p:spPr/>
        <p:txBody>
          <a:bodyPr/>
          <a:lstStyle/>
          <a:p>
            <a:r>
              <a:rPr lang="en-IN" sz="2400">
                <a:solidFill>
                  <a:srgbClr val="002060"/>
                </a:solidFill>
              </a:rPr>
              <a:t>Future Perspective</a:t>
            </a:r>
          </a:p>
        </p:txBody>
      </p:sp>
      <p:sp>
        <p:nvSpPr>
          <p:cNvPr id="3" name="TextBox 2">
            <a:extLst>
              <a:ext uri="{FF2B5EF4-FFF2-40B4-BE49-F238E27FC236}">
                <a16:creationId xmlns:a16="http://schemas.microsoft.com/office/drawing/2014/main" id="{44D4D846-7EF1-A65B-5B05-090CDBEC404D}"/>
              </a:ext>
            </a:extLst>
          </p:cNvPr>
          <p:cNvSpPr txBox="1"/>
          <p:nvPr/>
        </p:nvSpPr>
        <p:spPr>
          <a:xfrm>
            <a:off x="373530" y="1197019"/>
            <a:ext cx="4572000" cy="338554"/>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Future Enhancements</a:t>
            </a:r>
          </a:p>
        </p:txBody>
      </p:sp>
      <p:sp>
        <p:nvSpPr>
          <p:cNvPr id="6" name="TextBox 5">
            <a:extLst>
              <a:ext uri="{FF2B5EF4-FFF2-40B4-BE49-F238E27FC236}">
                <a16:creationId xmlns:a16="http://schemas.microsoft.com/office/drawing/2014/main" id="{8EDEE0A0-1344-2F95-70EB-1FB83F1C2509}"/>
              </a:ext>
            </a:extLst>
          </p:cNvPr>
          <p:cNvSpPr txBox="1"/>
          <p:nvPr/>
        </p:nvSpPr>
        <p:spPr>
          <a:xfrm>
            <a:off x="373529" y="1590425"/>
            <a:ext cx="5077011" cy="2893100"/>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Real-time hospital database integration</a:t>
            </a:r>
          </a:p>
          <a:p>
            <a:pPr marL="28575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AI-based disease prediction</a:t>
            </a:r>
          </a:p>
          <a:p>
            <a:pPr marL="28575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Patient risk scoring</a:t>
            </a:r>
          </a:p>
          <a:p>
            <a:pPr marL="28575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Predictive healthcare analytics</a:t>
            </a:r>
          </a:p>
          <a:p>
            <a:pPr marL="28575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Mobile healthcare dashboards</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Integration with Electronic Health Record (EHR) systems</a:t>
            </a:r>
          </a:p>
          <a:p>
            <a:pPr marL="285750" indent="-285750">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Department-wise performance analytics</a:t>
            </a:r>
            <a:endParaRPr lang="en-US"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Advanced forecasting using machine learning </a:t>
            </a: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36964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B371653C-5A59-55AF-7592-1B7D2CA0BEA9}"/>
              </a:ext>
            </a:extLst>
          </p:cNvPr>
          <p:cNvSpPr txBox="1"/>
          <p:nvPr/>
        </p:nvSpPr>
        <p:spPr>
          <a:xfrm>
            <a:off x="3166669" y="2193074"/>
            <a:ext cx="2810662" cy="466453"/>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gn="ctr">
              <a:lnSpc>
                <a:spcPct val="90000"/>
              </a:lnSpc>
              <a:spcBef>
                <a:spcPct val="0"/>
              </a:spcBef>
              <a:spcAft>
                <a:spcPts val="600"/>
              </a:spcAft>
            </a:pPr>
            <a:r>
              <a:rPr lang="en-US" sz="2500" kern="1200">
                <a:solidFill>
                  <a:schemeClr val="tx1"/>
                </a:solidFill>
                <a:latin typeface="Arial" panose="020B0604020202020204" pitchFamily="34" charset="0"/>
                <a:ea typeface="+mj-ea"/>
                <a:cs typeface="Arial" panose="020B0604020202020204" pitchFamily="34" charset="0"/>
              </a:rPr>
              <a:t>Thank you...!</a:t>
            </a:r>
          </a:p>
        </p:txBody>
      </p:sp>
    </p:spTree>
    <p:extLst>
      <p:ext uri="{BB962C8B-B14F-4D97-AF65-F5344CB8AC3E}">
        <p14:creationId xmlns:p14="http://schemas.microsoft.com/office/powerpoint/2010/main" val="32577018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Props1.xml><?xml version="1.0" encoding="utf-8"?>
<ds:datastoreItem xmlns:ds="http://schemas.openxmlformats.org/officeDocument/2006/customXml" ds:itemID="{7D9E5D5E-A365-4A49-8140-C8CC82A61608}">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706AB80-2608-47D7-8AC8-FA6BC8A9B27C}">
  <ds:schemaRefs>
    <ds:schemaRef ds:uri="http://schemas.microsoft.com/sharepoint/v3/contenttype/forms"/>
  </ds:schemaRefs>
</ds:datastoreItem>
</file>

<file path=customXml/itemProps3.xml><?xml version="1.0" encoding="utf-8"?>
<ds:datastoreItem xmlns:ds="http://schemas.openxmlformats.org/officeDocument/2006/customXml" ds:itemID="{A6559A34-456E-49A1-8157-9E3D18BFAD36}">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137</TotalTime>
  <Words>469</Words>
  <Application>Microsoft Office PowerPoint</Application>
  <PresentationFormat>On-screen Show (16:9)</PresentationFormat>
  <Paragraphs>87</Paragraphs>
  <Slides>11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Times New Roman</vt:lpstr>
      <vt:lpstr>Wingdings</vt:lpstr>
      <vt:lpstr>Simple Light</vt:lpstr>
      <vt:lpstr>PowerPoint Presentation</vt:lpstr>
      <vt:lpstr>Project Objectives</vt:lpstr>
      <vt:lpstr>Problem Statement</vt:lpstr>
      <vt:lpstr>Project overview - Introduction</vt:lpstr>
      <vt:lpstr>End User</vt:lpstr>
      <vt:lpstr>Wow Factor in Solution</vt:lpstr>
      <vt:lpstr>Flow of Project</vt:lpstr>
      <vt:lpstr>Result / Outcomes </vt:lpstr>
      <vt:lpstr>Conclusion</vt:lpstr>
      <vt:lpstr>Future Perspective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Snehal Gurnule</cp:lastModifiedBy>
  <cp:revision>16</cp:revision>
  <dcterms:modified xsi:type="dcterms:W3CDTF">2026-06-24T14:05:52Z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